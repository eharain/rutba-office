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2.xml" ContentType="application/vnd.openxmlformats-officedocument.presentationml.slide+xml"/>
  <Override PartName="/ppt/slides/_rels/slide2.xml.rels" ContentType="application/vnd.openxmlformats-package.relationships+xml"/>
  <Override PartName="/ppt/slides/slide3.xml" ContentType="application/vnd.openxmlformats-officedocument.presentationml.slide+xml"/>
  <Override PartName="/ppt/slides/_rels/slide3.xml.rels" ContentType="application/vnd.openxmlformats-package.relationships+xml"/>
  <Override PartName="/ppt/slides/slide4.xml" ContentType="application/vnd.openxmlformats-officedocument.presentationml.slide+xml"/>
  <Override PartName="/ppt/slides/_rels/slide4.xml.rels" ContentType="application/vnd.openxmlformats-package.relationships+xml"/>
  <Override PartName="/ppt/slides/slide5.xml" ContentType="application/vnd.openxmlformats-officedocument.presentationml.slide+xml"/>
  <Override PartName="/ppt/slides/_rels/slide5.xml.rels" ContentType="application/vnd.openxmlformats-package.relationships+xml"/>
  <Override PartName="/ppt/charts/chart1.xml" ContentType="application/vnd.openxmlformats-officedocument.drawingml.chart+xml"/>
  <Override PartName="/ppt/slides/slide6.xml" ContentType="application/vnd.openxmlformats-officedocument.presentationml.slide+xml"/>
  <Override PartName="/ppt/slides/_rels/slide6.xml.rels" ContentType="application/vnd.openxmlformats-package.relationships+xml"/>
  <Override PartName="/ppt/slides/slide7.xml" ContentType="application/vnd.openxmlformats-officedocument.presentationml.slide+xml"/>
  <Override PartName="/ppt/slides/_rels/slide7.xml.rels" ContentType="application/vnd.openxmlformats-package.relationshi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12192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Planned and spent, £ thousand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Planned</c:v>
          </c:tx>
          <c:cat>
            <c:strRe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numCache>
                <c:formatCode>General</c:formatCode>
                <c:ptCount val="6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50</c:v>
                </c:pt>
                <c:pt idx="5">
                  <c:v>40</c:v>
                </c:pt>
              </c:numCache>
            </c:numRef>
          </c:val>
        </c:ser>
        <c:ser>
          <c:idx val="1"/>
          <c:order val="1"/>
          <c:tx>
            <c:v>Spent</c:v>
          </c:tx>
          <c:cat>
            <c:strRe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numCache>
                <c:formatCode>General</c:formatCode>
                <c:ptCount val="6"/>
                <c:pt idx="0">
                  <c:v>38</c:v>
                </c:pt>
                <c:pt idx="1">
                  <c:v>47</c:v>
                </c:pt>
                <c:pt idx="2">
                  <c:v>56</c:v>
                </c:pt>
                <c:pt idx="3">
                  <c:v>61</c:v>
                </c:pt>
              </c:numCache>
            </c:numRef>
          </c:val>
        </c:ser>
        <c:axId val="100010001"/>
        <c:axId val="100010002"/>
      </c:barChart>
      <c:catAx>
        <c:axId val="100010001"/>
        <c:scaling>
          <c:orientation val="minMax"/>
        </c:scaling>
        <c:delete val="0"/>
        <c:axPos val="b"/>
        <c:crossAx val="100010002"/>
      </c:catAx>
      <c:valAx>
        <c:axId val="100010002"/>
        <c:scaling>
          <c:orientation val="minMax"/>
        </c:scaling>
        <c:delete val="0"/>
        <c:axPos val="l"/>
        <c:crossAx val="100010001"/>
      </c:valAx>
    </c:plotArea>
    <c:plotVisOnly val="1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935480"/>
            <a:ext cx="9144000" cy="15001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500187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247900"/>
            <a:ext cx="10363200" cy="161925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914400" y="3962400"/>
            <a:ext cx="10363200" cy="857250"/>
          </a:xfrm>
        </p:spPr>
        <p:txBody>
          <a:bodyPr/>
          <a:lstStyle>
            <a:lvl1pPr>
              <a:defRPr sz="240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914400"/>
            <a:ext cx="4000500" cy="180975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4953000" y="666750"/>
            <a:ext cx="6667500" cy="5524500"/>
          </a:xfrm>
        </p:spPr>
        <p:txBody>
          <a:bodyPr/>
          <a:lstStyle/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09600" y="2857500"/>
            <a:ext cx="4000500" cy="3143250"/>
          </a:xfrm>
        </p:spPr>
        <p:txBody>
          <a:bodyPr/>
          <a:lstStyle>
            <a:lvl1pPr>
              <a:defRPr sz="180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/>
            </a:gs>
            <a:gs pos="4200">
              <a:schemeClr val="tx2"/>
            </a:gs>
            <a:gs pos="4200">
              <a:schemeClr val="bg1"/>
            </a:gs>
            <a:gs pos="100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31520"/>
            <a:ext cx="10515600" cy="1325563"/>
          </a:xfrm>
          <a:prstGeom prst="rect">
            <a:avLst/>
          </a:prstGeom>
        </p:spPr>
        <p:txBody>
          <a:bodyPr anchor="b"/>
          <a:lstStyle/>
          <a:p>
            <a:pPr algn="l"/>
            <a:endParaRPr lang="en-US" sz="4400" b="1"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838200" y="2202180"/>
            <a:ext cx="10515600" cy="3684270"/>
          </a:xfrm>
          <a:prstGeom prst="rect">
            <a:avLst/>
          </a:prstGeom>
        </p:spPr>
        <p:txBody>
          <a:bodyPr anchor="t"/>
          <a:lstStyle/>
          <a:p>
            <a:pPr algn="l"/>
            <a:endParaRPr lang="en-US" sz="20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4"/>
    <p:sldLayoutId id="2147483652" r:id="rId5"/>
    <p:sldLayoutId id="2147483653" r:id="rId6"/>
  </p:sldLayoutIdLst>
  <p:txStyles>
    <p:titleStyle>
      <a:lvl1pPr algn="l">
        <a:defRPr sz="4400" b="1">
          <a:solidFill>
            <a:schemeClr val="tx1"/>
          </a:solidFill>
          <a:latin typeface="+mj-lt"/>
        </a:defRPr>
      </a:lvl1pPr>
    </p:titleStyle>
    <p:bodyStyle>
      <a:lvl1pPr marL="342900" indent="-342900" algn="l">
        <a:buChar char="•"/>
        <a:defRPr sz="2000">
          <a:solidFill>
            <a:schemeClr val="tx1"/>
          </a:solidFill>
          <a:latin typeface="+mn-lt"/>
        </a:defRPr>
      </a:lvl1pPr>
      <a:lvl2pPr marL="685800" indent="-342900" algn="l">
        <a:buChar char="•"/>
        <a:defRPr sz="1800">
          <a:solidFill>
            <a:schemeClr val="tx1"/>
          </a:solidFill>
          <a:latin typeface="+mn-lt"/>
        </a:defRPr>
      </a:lvl2pPr>
      <a:lvl3pPr marL="1028700" indent="-342900" algn="l">
        <a:buChar char="•"/>
        <a:defRPr sz="1600">
          <a:solidFill>
            <a:schemeClr val="tx1"/>
          </a:solidFill>
          <a:latin typeface="+mn-lt"/>
        </a:defRPr>
      </a:lvl3pPr>
      <a:lvl4pPr marL="1371600" indent="-342900" algn="l">
        <a:buChar char="•"/>
        <a:defRPr sz="1400">
          <a:solidFill>
            <a:schemeClr val="tx1"/>
          </a:solidFill>
          <a:latin typeface="+mn-lt"/>
        </a:defRPr>
      </a:lvl4pPr>
      <a:lvl5pPr marL="1714500" indent="-342900" algn="l">
        <a:buChar char="•"/>
        <a:defRPr sz="1400">
          <a:solidFill>
            <a:schemeClr val="tx1"/>
          </a:solidFill>
          <a:latin typeface="+mn-lt"/>
        </a:defRPr>
      </a:lvl5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 xml:space="preserve">Project Name: status report</a:t>
            </a:r>
          </a:p>
        </p:txBody>
      </p:sp>
      <p:sp>
        <p:nvSpPr>
          <p:cNvPr id="3" name="Content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 xml:space="preserve">[Date]  |  [Project manager]</a:t>
            </a:r>
          </a:p>
        </p:txBody>
      </p:sp>
      <p:sp>
        <p:nvSpPr>
          <p:cNvPr id="4" name="Rectangle 4"/>
          <p:cNvSpPr/>
          <p:nvPr/>
        </p:nvSpPr>
        <p:spPr>
          <a:xfrm>
            <a:off x="1524000" y="5562600"/>
            <a:ext cx="9144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5"/>
          <p:cNvSpPr/>
          <p:nvPr/>
        </p:nvSpPr>
        <p:spPr>
          <a:xfrm>
            <a:off x="1390650" y="5448300"/>
            <a:ext cx="266700" cy="2667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6"/>
          <p:cNvSpPr/>
          <p:nvPr/>
        </p:nvSpPr>
        <p:spPr>
          <a:xfrm>
            <a:off x="3676650" y="5448300"/>
            <a:ext cx="266700" cy="2667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7"/>
          <p:cNvSpPr/>
          <p:nvPr/>
        </p:nvSpPr>
        <p:spPr>
          <a:xfrm>
            <a:off x="5962650" y="5448300"/>
            <a:ext cx="266700" cy="2667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8"/>
          <p:cNvSpPr/>
          <p:nvPr/>
        </p:nvSpPr>
        <p:spPr>
          <a:xfrm>
            <a:off x="8248650" y="5448300"/>
            <a:ext cx="266700" cy="2667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9"/>
          <p:cNvSpPr/>
          <p:nvPr/>
        </p:nvSpPr>
        <p:spPr>
          <a:xfrm>
            <a:off x="10534650" y="5448300"/>
            <a:ext cx="266700" cy="2667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Summary</a:t>
            </a:r>
          </a:p>
        </p:txBody>
      </p:sp>
      <p:sp>
        <p:nvSpPr>
          <p:cNvPr id="3" name="Rectangle: Rounded Corners 3"/>
          <p:cNvSpPr/>
          <p:nvPr/>
        </p:nvSpPr>
        <p:spPr>
          <a:xfrm>
            <a:off x="914400" y="1905000"/>
            <a:ext cx="2381250" cy="17145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000">
                <a:solidFill>
                  <a:srgbClr val="FFFFFF"/>
                </a:solidFill>
              </a:rPr>
              <a:t xml:space="preserve">Schedule</a:t>
            </a:r>
          </a:p>
          <a:p>
            <a:pPr algn="ctr"/>
            <a:r>
              <a:rPr lang="en-US" sz="2600" b="1">
                <a:solidFill>
                  <a:srgbClr val="FFFFFF"/>
                </a:solidFill>
              </a:rPr>
              <a:t xml:space="preserve">On track</a:t>
            </a:r>
          </a:p>
        </p:txBody>
      </p:sp>
      <p:sp>
        <p:nvSpPr>
          <p:cNvPr id="4" name="Rectangle: Rounded Corners 4"/>
          <p:cNvSpPr/>
          <p:nvPr/>
        </p:nvSpPr>
        <p:spPr>
          <a:xfrm>
            <a:off x="3562350" y="1905000"/>
            <a:ext cx="2381250" cy="17145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000">
                <a:solidFill>
                  <a:srgbClr val="FFFFFF"/>
                </a:solidFill>
              </a:rPr>
              <a:t xml:space="preserve">Budget</a:t>
            </a:r>
          </a:p>
          <a:p>
            <a:pPr algn="ctr"/>
            <a:r>
              <a:rPr lang="en-US" sz="2600" b="1">
                <a:solidFill>
                  <a:srgbClr val="FFFFFF"/>
                </a:solidFill>
              </a:rPr>
              <a:t xml:space="preserve">At risk</a:t>
            </a:r>
          </a:p>
        </p:txBody>
      </p:sp>
      <p:sp>
        <p:nvSpPr>
          <p:cNvPr id="5" name="Rectangle: Rounded Corners 5"/>
          <p:cNvSpPr/>
          <p:nvPr/>
        </p:nvSpPr>
        <p:spPr>
          <a:xfrm>
            <a:off x="6210300" y="1905000"/>
            <a:ext cx="2381250" cy="17145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000">
                <a:solidFill>
                  <a:srgbClr val="FFFFFF"/>
                </a:solidFill>
              </a:rPr>
              <a:t xml:space="preserve">Scope</a:t>
            </a:r>
          </a:p>
          <a:p>
            <a:pPr algn="ctr"/>
            <a:r>
              <a:rPr lang="en-US" sz="2600" b="1">
                <a:solidFill>
                  <a:srgbClr val="FFFFFF"/>
                </a:solidFill>
              </a:rPr>
              <a:t xml:space="preserve">On track</a:t>
            </a:r>
          </a:p>
        </p:txBody>
      </p:sp>
      <p:sp>
        <p:nvSpPr>
          <p:cNvPr id="6" name="Rectangle: Rounded Corners 6"/>
          <p:cNvSpPr/>
          <p:nvPr/>
        </p:nvSpPr>
        <p:spPr>
          <a:xfrm>
            <a:off x="8858250" y="1905000"/>
            <a:ext cx="2381250" cy="17145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000">
                <a:solidFill>
                  <a:srgbClr val="FFFFFF"/>
                </a:solidFill>
              </a:rPr>
              <a:t xml:space="preserve">Quality</a:t>
            </a:r>
          </a:p>
          <a:p>
            <a:pPr algn="ctr"/>
            <a:r>
              <a:rPr lang="en-US" sz="2600" b="1">
                <a:solidFill>
                  <a:srgbClr val="FFFFFF"/>
                </a:solidFill>
              </a:rPr>
              <a:t xml:space="preserve">Needs attention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4000500"/>
            <a:ext cx="10363200" cy="1905000"/>
          </a:xfrm>
          <a:prstGeom prst="rect">
            <a:avLst/>
          </a:prstGeom>
          <a:noFill/>
        </p:spPr>
        <p:txBody>
          <a:bodyPr/>
          <a:lstStyle/>
          <a:p>
            <a:pPr>
              <a:spcAft>
                <a:spcPts val="1200"/>
              </a:spcAft>
              <a:buNone/>
            </a:pPr>
            <a:r>
              <a:rPr lang="en-US" sz="2200"/>
              <a:t xml:space="preserve">In one sentence: where the project stands, and the one thing the reader must know.</a:t>
            </a:r>
          </a:p>
          <a:p>
            <a:pPr>
              <a:buNone/>
            </a:pPr>
            <a:r>
              <a:rPr lang="en-US" sz="1600">
                <a:solidFill>
                  <a:srgbClr val="37474F"/>
                </a:solidFill>
              </a:rPr>
              <a:t xml:space="preserve">Green is on track, amber is at risk, red needs a decision.</a:t>
            </a:r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61197" y="6203747"/>
            <a:ext cx="2685898" cy="365531"/>
          </a:xfrm>
          <a:prstGeom prst="rect">
            <a:avLst/>
          </a:prstGeom>
        </p:spPr>
        <p:txBody>
          <a:bodyPr/>
          <a:lstStyle/>
          <a:p>
            <a:pPr algn="r"/>
            <a:fld id="{D0EDDD5A-7121-61AA-0550-194A753619A7}" type="slidenum">
              <a:rPr lang="en-US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Progress this period</a:t>
            </a:r>
          </a:p>
        </p:txBody>
      </p:sp>
      <p:sp>
        <p:nvSpPr>
          <p:cNvPr id="3" name="Conten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 xml:space="preserve">Finished: the design was signed off by the steering group</a:t>
            </a:r>
          </a:p>
          <a:p>
            <a:r>
              <a:rPr lang="en-US"/>
              <a:t xml:space="preserve">Finished: the supplier contract was agreed</a:t>
            </a:r>
          </a:p>
          <a:p>
            <a:r>
              <a:rPr lang="en-US"/>
              <a:t xml:space="preserve">Started: building the first release</a:t>
            </a:r>
          </a:p>
          <a:p>
            <a:r>
              <a:rPr lang="en-US"/>
              <a:t xml:space="preserve">Next period: test the first release with ten users</a:t>
            </a:r>
          </a:p>
        </p:txBody>
      </p:sp>
      <p:sp>
        <p:nvSpPr>
          <p:cNvPr id="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61197" y="6203747"/>
            <a:ext cx="2685898" cy="365531"/>
          </a:xfrm>
          <a:prstGeom prst="rect">
            <a:avLst/>
          </a:prstGeom>
        </p:spPr>
        <p:txBody>
          <a:bodyPr/>
          <a:lstStyle/>
          <a:p>
            <a:pPr algn="r"/>
            <a:fld id="{C5AC5AE4-B740-62FD-249A-0282E36BD944}" type="slidenum">
              <a:rPr lang="en-US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Milestones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914400" y="1809750"/>
          <a:ext cx="103632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0"/>
                <a:gridCol w="2514600"/>
                <a:gridCol w="25146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 xml:space="preserve">Milestone</a:t>
                      </a:r>
                    </a:p>
                  </a:txBody>
                  <a:tcPr>
                    <a:solidFill>
                      <a:srgbClr val="008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 xml:space="preserve">Due</a:t>
                      </a:r>
                    </a:p>
                  </a:txBody>
                  <a:tcPr>
                    <a:solidFill>
                      <a:srgbClr val="008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 xml:space="preserve">Status</a:t>
                      </a:r>
                    </a:p>
                  </a:txBody>
                  <a:tcPr>
                    <a:solidFill>
                      <a:srgbClr val="00897B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Design signed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 March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Contract agreed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 March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release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 April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progress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started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Go live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 June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started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61197" y="6203747"/>
            <a:ext cx="2685898" cy="365531"/>
          </a:xfrm>
          <a:prstGeom prst="rect">
            <a:avLst/>
          </a:prstGeom>
        </p:spPr>
        <p:txBody>
          <a:bodyPr/>
          <a:lstStyle/>
          <a:p>
            <a:pPr algn="r"/>
            <a:fld id="{F66845D5-0BDB-C295-C8B8-44A0CCAF3CE9}" type="slidenum">
              <a:rPr lang="en-US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Budget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914400" y="1714500"/>
          <a:ext cx="7239000" cy="4381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8572500" y="2095500"/>
            <a:ext cx="2857500" cy="36195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lang="en-US" sz="4800" b="1">
                <a:solidFill>
                  <a:srgbClr val="00897B"/>
                </a:solidFill>
              </a:rPr>
              <a:t xml:space="preserve">£202k</a:t>
            </a:r>
          </a:p>
          <a:p>
            <a:pPr>
              <a:spcAft>
                <a:spcPts val="1800"/>
              </a:spcAft>
              <a:buNone/>
            </a:pPr>
            <a:r>
              <a:rPr lang="en-US" sz="2000"/>
              <a:t xml:space="preserve">spent of £280k, 6% over plan to date.</a:t>
            </a:r>
          </a:p>
          <a:p>
            <a:pPr>
              <a:buNone/>
            </a:pPr>
            <a:r>
              <a:rPr lang="en-US" sz="1600">
                <a:solidFill>
                  <a:srgbClr val="37474F"/>
                </a:solidFill>
              </a:rPr>
              <a:t xml:space="preserve">Why, and what is being done about it.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61197" y="6203747"/>
            <a:ext cx="2685898" cy="365531"/>
          </a:xfrm>
          <a:prstGeom prst="rect">
            <a:avLst/>
          </a:prstGeom>
        </p:spPr>
        <p:txBody>
          <a:bodyPr/>
          <a:lstStyle/>
          <a:p>
            <a:pPr algn="r"/>
            <a:fld id="{2B501842-7F63-85C7-E6C0-5BFD7A176D17}" type="slidenum">
              <a:rPr lang="en-US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Risks and issues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914400" y="1809750"/>
          <a:ext cx="1036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1524000"/>
                <a:gridCol w="1714500"/>
                <a:gridCol w="33147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 xml:space="preserve">Risk or issue</a:t>
                      </a:r>
                    </a:p>
                  </a:txBody>
                  <a:tcPr>
                    <a:solidFill>
                      <a:srgbClr val="008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 xml:space="preserve">Impact</a:t>
                      </a:r>
                    </a:p>
                  </a:txBody>
                  <a:tcPr>
                    <a:solidFill>
                      <a:srgbClr val="008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 xml:space="preserve">Owner</a:t>
                      </a:r>
                    </a:p>
                  </a:txBody>
                  <a:tcPr>
                    <a:solidFill>
                      <a:srgbClr val="008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 xml:space="preserve">What is being done</a:t>
                      </a:r>
                    </a:p>
                  </a:txBody>
                  <a:tcPr>
                    <a:solidFill>
                      <a:srgbClr val="00897B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Supplier may deliver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[Name]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Weekly check-in; second supplier lined up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Two people leave in 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[Name]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Handover notes; cover agreed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Testing room not booked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[Name]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Booking this week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61197" y="6203747"/>
            <a:ext cx="2685898" cy="365531"/>
          </a:xfrm>
          <a:prstGeom prst="rect">
            <a:avLst/>
          </a:prstGeom>
        </p:spPr>
        <p:txBody>
          <a:bodyPr/>
          <a:lstStyle/>
          <a:p>
            <a:pPr algn="r"/>
            <a:fld id="{CC20C230-4636-744F-E79A-CB5D0C1651F0}" type="slidenum">
              <a:rPr lang="en-US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Next steps</a:t>
            </a:r>
          </a:p>
        </p:txBody>
      </p:sp>
      <p:sp>
        <p:nvSpPr>
          <p:cNvPr id="3" name="Conten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AutoNum type="arabicPeriod"/>
            </a:pPr>
            <a:r>
              <a:rPr lang="en-US"/>
              <a:t xml:space="preserve">Agree the budget change at the next steering group</a:t>
            </a:r>
          </a:p>
          <a:p>
            <a:pPr>
              <a:buAutoNum type="arabicPeriod"/>
            </a:pPr>
            <a:r>
              <a:rPr lang="en-US"/>
              <a:t xml:space="preserve">Finish the first release</a:t>
            </a:r>
          </a:p>
          <a:p>
            <a:pPr>
              <a:buAutoNum type="arabicPeriod"/>
            </a:pPr>
            <a:r>
              <a:rPr lang="en-US"/>
              <a:t xml:space="preserve">Book the user testing sessions</a:t>
            </a:r>
          </a:p>
        </p:txBody>
      </p:sp>
      <p:sp>
        <p:nvSpPr>
          <p:cNvPr id="4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61197" y="6203747"/>
            <a:ext cx="2685898" cy="365531"/>
          </a:xfrm>
          <a:prstGeom prst="rect">
            <a:avLst/>
          </a:prstGeom>
        </p:spPr>
        <p:txBody>
          <a:bodyPr/>
          <a:lstStyle/>
          <a:p>
            <a:pPr algn="r"/>
            <a:fld id="{7E58036B-C437-5ABB-41A7-94192E1A860C}" type="slidenum">
              <a:rPr lang="en-US"/>
              <a:t>7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alt">
  <a:themeElements>
    <a:clrScheme name="Basalt">
      <a:dk1>
        <a:srgbClr val="1E2326"/>
      </a:dk1>
      <a:lt1>
        <a:sysClr val="window" lastClr="FFFFFF"/>
      </a:lt1>
      <a:dk2>
        <a:srgbClr val="37474F"/>
      </a:dk2>
      <a:lt2>
        <a:srgbClr val="ECEFF1"/>
      </a:lt2>
      <a:accent1>
        <a:srgbClr val="00897B"/>
      </a:accent1>
      <a:accent2>
        <a:srgbClr val="546E7A"/>
      </a:accent2>
      <a:accent3>
        <a:srgbClr val="FFA000"/>
      </a:accent3>
      <a:accent4>
        <a:srgbClr val="5C6BC0"/>
      </a:accent4>
      <a:accent5>
        <a:srgbClr val="EF5350"/>
      </a:accent5>
      <a:accent6>
        <a:srgbClr val="8D6E63"/>
      </a:accent6>
      <a:hlink>
        <a:srgbClr val="00796B"/>
      </a:hlink>
      <a:folHlink>
        <a:srgbClr val="5C6BC0"/>
      </a:folHlink>
    </a:clrScheme>
    <a:fontScheme name="Basalt">
      <a:majorFont>
        <a:latin typeface="Bahnschrift"/>
        <a:ea typeface=""/>
        <a:cs typeface=""/>
      </a:majorFont>
      <a:minorFont>
        <a:latin typeface="Segoe UI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>
            <a:tint val="85000"/>
          </a:schemeClr>
        </a:solidFill>
        <a:solidFill>
          <a:schemeClr val="phClr">
            <a:shade val="9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Rutba Office</Application>
  <Slides>1</Slides>
  <PresentationFormat>Widescreen</PresentationFormat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Project Name: status report</dc:title>
  <dc:creator>Rutba Office</dc:creator>
  <cp:lastModifiedBy>Rutba Office</cp:lastModifiedBy>
  <dcterms:created xsi:type="dcterms:W3CDTF">2026-10-13T03:04:33Z</dcterms:created>
  <dcterms:modified xsi:type="dcterms:W3CDTF">2026-10-13T03:04:33Z</dcterms:modified>
</cp:coreProperties>
</file>