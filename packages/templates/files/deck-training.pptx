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notesSlides/notesSlide2.xml" ContentType="application/vnd.openxmlformats-officedocument.presentationml.notesSlide+xml"/>
  <Override PartName="/ppt/notesSlides/_rels/notesSlide2.xml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notesSlides/notesSlide4.xml" ContentType="application/vnd.openxmlformats-officedocument.presentationml.notesSlide+xml"/>
  <Override PartName="/ppt/notesSlides/_rels/notesSlide4.xml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notesSlides/notesSlide5.xml" ContentType="application/vnd.openxmlformats-officedocument.presentationml.notesSlide+xml"/>
  <Override PartName="/ppt/notesSlides/_rels/notesSlide5.xml.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defPPr>
      <a:defRPr lang="en-US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571" cy="612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6429" y="0"/>
            <a:ext cx="2971571" cy="612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E374E-3C58-4013-A5AE-96493482479F}" type="datetimeFigureOut">
              <a:rPr lang="en-US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25527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9962"/>
            <a:ext cx="2971571" cy="6120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6429" y="11579962"/>
            <a:ext cx="2971571" cy="6120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43F10-9838-4949-8F92-6F11F13EDD2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Welcome everyone, say who you are, and how long the session runs.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what people hope to get from the session, and note anything to come back to.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Pause here for questions before moving 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people two minutes, then go through the answers together.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Thank everyone, hand out the notes, and ask for feedback.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35480"/>
            <a:ext cx="9144000" cy="15001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0018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47900"/>
            <a:ext cx="10363200" cy="161925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14400" y="3962400"/>
            <a:ext cx="10363200" cy="857250"/>
          </a:xfrm>
        </p:spPr>
        <p:txBody>
          <a:bodyPr/>
          <a:lstStyle>
            <a:lvl1pPr>
              <a:defRPr sz="2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4000500" cy="180975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53000" y="666750"/>
            <a:ext cx="6667500" cy="5524500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09600" y="2857500"/>
            <a:ext cx="4000500" cy="3143250"/>
          </a:xfrm>
        </p:spPr>
        <p:txBody>
          <a:bodyPr/>
          <a:lstStyle>
            <a:lvl1pPr>
              <a:defRPr sz="18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8000">
              <a:schemeClr val="bg1"/>
            </a:gs>
            <a:gs pos="100000">
              <a:schemeClr val="accent1">
                <a:lumMod val="20000"/>
                <a:lumOff val="8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algn="l"/>
            <a:endParaRPr lang="en-US" sz="4400" b="1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838200" y="2202180"/>
            <a:ext cx="10515600" cy="3684270"/>
          </a:xfrm>
          <a:prstGeom prst="rect">
            <a:avLst/>
          </a:prstGeom>
        </p:spPr>
        <p:txBody>
          <a:bodyPr anchor="t"/>
          <a:lstStyle/>
          <a:p>
            <a:pPr algn="l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  <p:sldLayoutId id="2147483652" r:id="rId5"/>
    <p:sldLayoutId id="2147483653" r:id="rId6"/>
  </p:sldLayoutIdLst>
  <p:txStyles>
    <p:titleStyle>
      <a:lvl1pPr algn="l">
        <a:defRPr sz="4400" b="1">
          <a:solidFill>
            <a:schemeClr val="tx1"/>
          </a:solidFill>
          <a:latin typeface="+mj-lt"/>
        </a:defRPr>
      </a:lvl1pPr>
    </p:titleStyle>
    <p:bodyStyle>
      <a:lvl1pPr marL="342900" indent="-342900" algn="l">
        <a:buChar char="•"/>
        <a:defRPr sz="2000">
          <a:solidFill>
            <a:schemeClr val="tx1"/>
          </a:solidFill>
          <a:latin typeface="+mn-lt"/>
        </a:defRPr>
      </a:lvl1pPr>
      <a:lvl2pPr marL="685800" indent="-342900" algn="l">
        <a:buChar char="•"/>
        <a:defRPr sz="1800">
          <a:solidFill>
            <a:schemeClr val="tx1"/>
          </a:solidFill>
          <a:latin typeface="+mn-lt"/>
        </a:defRPr>
      </a:lvl2pPr>
      <a:lvl3pPr marL="1028700" indent="-342900" algn="l">
        <a:buChar char="•"/>
        <a:defRPr sz="1600">
          <a:solidFill>
            <a:schemeClr val="tx1"/>
          </a:solidFill>
          <a:latin typeface="+mn-lt"/>
        </a:defRPr>
      </a:lvl3pPr>
      <a:lvl4pPr marL="1371600" indent="-342900" algn="l">
        <a:buChar char="•"/>
        <a:defRPr sz="1400">
          <a:solidFill>
            <a:schemeClr val="tx1"/>
          </a:solidFill>
          <a:latin typeface="+mn-lt"/>
        </a:defRPr>
      </a:lvl4pPr>
      <a:lvl5pPr marL="1714500" indent="-342900" algn="l">
        <a:buChar char="•"/>
        <a:defRPr sz="1400">
          <a:solidFill>
            <a:schemeClr val="tx1"/>
          </a:solidFill>
          <a:latin typeface="+mn-lt"/>
        </a:defRPr>
      </a:lvl5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 xml:space="preserve">Course Title</a:t>
            </a:r>
          </a:p>
        </p:txBody>
      </p:sp>
      <p:sp>
        <p:nvSpPr>
          <p:cNvPr id="3" name="Content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 xml:space="preserve">Session 1: [the topic]  |  [Trainer's name]</a:t>
            </a:r>
          </a:p>
        </p:txBody>
      </p:sp>
      <p:sp>
        <p:nvSpPr>
          <p:cNvPr id="4" name="Shape 4"/>
          <p:cNvSpPr/>
          <p:nvPr/>
        </p:nvSpPr>
        <p:spPr>
          <a:xfrm>
            <a:off x="8382000" y="1047750"/>
            <a:ext cx="2762250" cy="2762250"/>
          </a:xfrm>
          <a:prstGeom prst="donu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5"/>
          <p:cNvSpPr/>
          <p:nvPr/>
        </p:nvSpPr>
        <p:spPr>
          <a:xfrm>
            <a:off x="10096500" y="3619500"/>
            <a:ext cx="1143000" cy="114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: Rounded Corners 6"/>
          <p:cNvSpPr/>
          <p:nvPr/>
        </p:nvSpPr>
        <p:spPr>
          <a:xfrm>
            <a:off x="8382000" y="4191000"/>
            <a:ext cx="952500" cy="9525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What you will learn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The three ideas the session is built on</a:t>
            </a:r>
          </a:p>
          <a:p>
            <a:r>
              <a:rPr lang="en-US"/>
              <a:t xml:space="preserve">How to put them to use in your own work</a:t>
            </a:r>
          </a:p>
          <a:p>
            <a:r>
              <a:rPr lang="en-US"/>
              <a:t xml:space="preserve">Where to find help afterwards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0B8AFAFA-811F-6F85-9A30-BBA29346BABE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Agenda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286000" y="1714500"/>
          <a:ext cx="7620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571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 xml:space="preserve">Time</a:t>
                      </a:r>
                    </a:p>
                  </a:txBody>
                  <a:tcPr>
                    <a:solidFill>
                      <a:srgbClr val="4C9A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 xml:space="preserve">What</a:t>
                      </a:r>
                    </a:p>
                  </a:txBody>
                  <a:tcPr>
                    <a:solidFill>
                      <a:srgbClr val="4C9A2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Welcome and introductions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 1: the basics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 2: in practice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Quick check and summary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E8F3E160-4325-51A3-A91C-19A8E6C74FC5}" type="slidenum">
              <a:rPr lang="en-US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Part 1: The basics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The ideas everything else is built 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61E328EF-0384-11BC-D0A1-448EC607D716}" type="slidenum">
              <a:rPr lang="en-US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The key idea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State the idea in one sentence</a:t>
            </a:r>
          </a:p>
          <a:p>
            <a:r>
              <a:rPr lang="en-US"/>
              <a:t xml:space="preserve">Give an example from the learners' own work</a:t>
            </a:r>
          </a:p>
          <a:p>
            <a:r>
              <a:rPr lang="en-US"/>
              <a:t xml:space="preserve">Say why it matters, and what goes wrong without it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56109C4B-988F-D0A3-6078-B31D10E2CC71}" type="slidenum">
              <a:rPr lang="en-US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Two ways to do it</a:t>
            </a:r>
          </a:p>
        </p:txBody>
      </p:sp>
      <p:sp>
        <p:nvSpPr>
          <p:cNvPr id="3" name="Rectangle 3"/>
          <p:cNvSpPr/>
          <p:nvPr/>
        </p:nvSpPr>
        <p:spPr>
          <a:xfrm>
            <a:off x="914400" y="1714500"/>
            <a:ext cx="4953000" cy="57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 xml:space="preserve">The quick 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2476500"/>
            <a:ext cx="4953000" cy="3429000"/>
          </a:xfrm>
          <a:prstGeom prst="rect">
            <a:avLst/>
          </a:prstGeom>
          <a:noFill/>
        </p:spPr>
        <p:txBody>
          <a:bodyPr/>
          <a:lstStyle/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When it suits</a:t>
            </a:r>
          </a:p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The steps, in order</a:t>
            </a:r>
          </a:p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What to watch for</a:t>
            </a:r>
          </a:p>
        </p:txBody>
      </p:sp>
      <p:sp>
        <p:nvSpPr>
          <p:cNvPr id="5" name="Rectangle 5"/>
          <p:cNvSpPr/>
          <p:nvPr/>
        </p:nvSpPr>
        <p:spPr>
          <a:xfrm>
            <a:off x="6324600" y="1714500"/>
            <a:ext cx="4953000" cy="57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</a:rPr>
              <a:t xml:space="preserve">The thorough way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24600" y="2476500"/>
            <a:ext cx="4953000" cy="3429000"/>
          </a:xfrm>
          <a:prstGeom prst="rect">
            <a:avLst/>
          </a:prstGeom>
          <a:noFill/>
        </p:spPr>
        <p:txBody>
          <a:bodyPr/>
          <a:lstStyle/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When it suits</a:t>
            </a:r>
          </a:p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The steps, in order</a:t>
            </a:r>
          </a:p>
          <a:p>
            <a:pPr>
              <a:spcAft>
                <a:spcPts val="1000"/>
              </a:spcAft>
              <a:buChar char="•"/>
            </a:pPr>
            <a:r>
              <a:rPr lang="en-US" sz="2000"/>
              <a:t xml:space="preserve">What to watch for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E1906420-FE08-7171-2DAD-5F17530EE695}" type="slidenum">
              <a:rPr lang="en-US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Quick check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/>
              <a:t xml:space="preserve">Question one about the key idea?</a:t>
            </a:r>
          </a:p>
          <a:p>
            <a:pPr>
              <a:buAutoNum type="arabicPeriod"/>
            </a:pPr>
            <a:r>
              <a:rPr lang="en-US"/>
              <a:t xml:space="preserve">Question two: which way suits this case?</a:t>
            </a:r>
          </a:p>
          <a:p>
            <a:pPr>
              <a:buAutoNum type="arabicPeriod"/>
            </a:pPr>
            <a:r>
              <a:rPr lang="en-US"/>
              <a:t xml:space="preserve">Question three: what would you do first?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2F51D267-9183-918C-B4FB-5F1F93AAD457}" type="slidenum">
              <a:rPr lang="en-US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 xml:space="preserve">Summary</a:t>
            </a:r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 xml:space="preserve">The key idea, in one sentence</a:t>
            </a:r>
          </a:p>
          <a:p>
            <a:r>
              <a:rPr lang="en-US"/>
              <a:t xml:space="preserve">The two ways, and when each suits</a:t>
            </a:r>
          </a:p>
          <a:p>
            <a:r>
              <a:rPr lang="en-US"/>
              <a:t xml:space="preserve">Where to find help: [link or name]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61197" y="6203747"/>
            <a:ext cx="2685898" cy="365531"/>
          </a:xfrm>
          <a:prstGeom prst="rect">
            <a:avLst/>
          </a:prstGeom>
        </p:spPr>
        <p:txBody>
          <a:bodyPr/>
          <a:lstStyle/>
          <a:p>
            <a:pPr algn="r"/>
            <a:fld id="{697E41B7-0968-540D-F0B8-C4E5467A4B5A}" type="slidenum">
              <a:rPr lang="en-US"/>
              <a:t>8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adow">
  <a:themeElements>
    <a:clrScheme name="Meadow">
      <a:dk1>
        <a:srgbClr val="22301F"/>
      </a:dk1>
      <a:lt1>
        <a:sysClr val="window" lastClr="FFFFFF"/>
      </a:lt1>
      <a:dk2>
        <a:srgbClr val="2F5233"/>
      </a:dk2>
      <a:lt2>
        <a:srgbClr val="EEF4E6"/>
      </a:lt2>
      <a:accent1>
        <a:srgbClr val="4C9A2A"/>
      </a:accent1>
      <a:accent2>
        <a:srgbClr val="A4C639"/>
      </a:accent2>
      <a:accent3>
        <a:srgbClr val="F2A541"/>
      </a:accent3>
      <a:accent4>
        <a:srgbClr val="2E86AB"/>
      </a:accent4>
      <a:accent5>
        <a:srgbClr val="C8553D"/>
      </a:accent5>
      <a:accent6>
        <a:srgbClr val="7D6B91"/>
      </a:accent6>
      <a:hlink>
        <a:srgbClr val="2E86AB"/>
      </a:hlink>
      <a:folHlink>
        <a:srgbClr val="7D6B91"/>
      </a:folHlink>
    </a:clrScheme>
    <a:fontScheme name="Meadow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</a:schemeClr>
            </a:gs>
            <a:gs pos="100000">
              <a:schemeClr val="phClr">
                <a:tint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eadow">
  <a:themeElements>
    <a:clrScheme name="Meadow">
      <a:dk1>
        <a:srgbClr val="22301F"/>
      </a:dk1>
      <a:lt1>
        <a:sysClr val="window" lastClr="FFFFFF"/>
      </a:lt1>
      <a:dk2>
        <a:srgbClr val="2F5233"/>
      </a:dk2>
      <a:lt2>
        <a:srgbClr val="EEF4E6"/>
      </a:lt2>
      <a:accent1>
        <a:srgbClr val="4C9A2A"/>
      </a:accent1>
      <a:accent2>
        <a:srgbClr val="A4C639"/>
      </a:accent2>
      <a:accent3>
        <a:srgbClr val="F2A541"/>
      </a:accent3>
      <a:accent4>
        <a:srgbClr val="2E86AB"/>
      </a:accent4>
      <a:accent5>
        <a:srgbClr val="C8553D"/>
      </a:accent5>
      <a:accent6>
        <a:srgbClr val="7D6B91"/>
      </a:accent6>
      <a:hlink>
        <a:srgbClr val="2E86AB"/>
      </a:hlink>
      <a:folHlink>
        <a:srgbClr val="7D6B91"/>
      </a:folHlink>
    </a:clrScheme>
    <a:fontScheme name="Meadow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of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</a:schemeClr>
            </a:gs>
            <a:gs pos="100000">
              <a:schemeClr val="phClr">
                <a:tint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Rutba Office</Application>
  <Slides>1</Slides>
  <PresentationFormat>Widescreen</PresentationFormat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Course Title</dc:title>
  <dc:creator>Rutba Office</dc:creator>
  <cp:lastModifiedBy>Rutba Office</cp:lastModifiedBy>
  <dcterms:created xsi:type="dcterms:W3CDTF">2026-10-13T03:04:35Z</dcterms:created>
  <dcterms:modified xsi:type="dcterms:W3CDTF">2026-10-13T03:04:35Z</dcterms:modified>
</cp:coreProperties>
</file>