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48E3A8E-1B63-4DE3-AEF8-4C6F787475F2}">
          <p14:sldIdLst>
            <p14:sldId id="256"/>
            <p14:sldId id="257"/>
          </p14:sldIdLst>
        </p14:section>
        <p14:section name="Content" id="{87F31E47-4454-4D83-B6C4-5D36A7245CA7}">
          <p14:sldIdLst>
            <p14:sldId id="258"/>
            <p14:sldId id="259"/>
            <p14:sldId id="260"/>
            <p14:sldId id="261"/>
            <p14:sldId id="262"/>
          </p14:sldIdLst>
        </p14:section>
        <p14:section name="Closing" id="{28B37811-E0C4-418A-BCF8-7C49E249CD8F}">
          <p14:sldIdLst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90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Columns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96-4CCE-BEEA-AB3EE6BDA6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96-4CCE-BEEA-AB3EE6BDA6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96-4CCE-BEEA-AB3EE6BDA6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7058207"/>
        <c:axId val="813231824"/>
      </c:barChart>
      <c:catAx>
        <c:axId val="1097058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3231824"/>
        <c:crosses val="autoZero"/>
        <c:auto val="1"/>
        <c:lblAlgn val="ctr"/>
        <c:lblOffset val="100"/>
        <c:noMultiLvlLbl val="0"/>
      </c:catAx>
      <c:valAx>
        <c:axId val="813231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058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 pie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EB-4AEC-9851-6644F5BB7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E066-B85F-4D67-91C9-CAA3ABDD2A4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A82C-8477-487D-952D-8E039FB1D1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05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Speaker notes for the title slide: welcome everyone,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705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Notes on slide two: the picture is generated, not fetched.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501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Sixteen preset shapes, two of them grouped, one rotated, one a hyperlink.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332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chart data is what PowerPoint puts in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819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Closing notes: thank the audience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45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39A7-030E-013F-4C37-D6A48364C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5C8D5-9442-FB85-725C-71FE14928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0C3B-893E-53C8-8883-EBF5F43C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0DBA8-E778-06EA-F354-022156B6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E4E00-4E47-0696-4179-86158A81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50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88CC-492D-C1F6-E716-69C73CB0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0E39-3E94-9CC7-E33C-8898F09E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E07B-A658-D2BC-106E-FFF149F4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03B82-8B81-6794-5FA5-A56D901F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93F1E-8F8E-39EB-8B08-15A48782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31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9B9B-B128-010A-F085-A5EC9F2C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04AFA-97AB-D932-9602-B090094D3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F9FA-56DB-12FB-7B6D-F0D95833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A57E-4552-62F7-9BD4-A2FDD3EA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AF195-1D73-25B7-6EBF-52767154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57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CE6F-D224-179C-BA3F-3C2A7AD1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6A07B-C80B-90CD-4F2F-E6F298FD9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57255-0767-8DCE-6BE3-90CD21B5A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22912-11E3-FF26-9277-43D7CC2D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1141-6951-13B8-C542-91DCAB89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A1A91-6F93-CADB-7D43-5E156F24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3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2233-AAF3-1AE9-426A-60F36F7B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5DF0C-B218-02E4-9BA1-3A5844EAD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80C25-11EF-30F5-21CC-17ADB3CAA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89D78-EC76-62F5-8C1E-A71BBD20E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0B858-2A27-84D1-530E-68A81118D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C6B0C-31E2-0A1D-DD4D-57929E50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91919-ECC1-41AE-5D51-AC4B743B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8E28C-AD33-BF5C-C864-C7CD2C2E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036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B859-E1E5-6E5F-98FF-494AE023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9DAA1-D7A1-104D-6F41-95E0E5E3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DFF51-328B-AA9D-2060-8A4245F9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86429-489B-DD12-90E1-EFB17F93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2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33B87-4781-0977-9419-A1FE24A7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E6D04-132A-43CB-DCC7-530221CB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EE30-665B-2F83-8EB8-758072DC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0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80AD-E60F-06FA-D61D-A4A78112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93F8-E367-37E1-A5F1-8D77DE10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9987-50CA-33BC-2BA8-2790D32E3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44DFC-7030-28F1-524E-BD5B83A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0565B-A084-6199-EFA3-CE62C855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F562A-7D68-C68C-EE31-A62C7195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4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2E26-DFFD-00F7-4423-F9C756F2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F3ECA-1C82-D078-B3C6-DE04F4DFE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35CB6-FA58-576A-4496-11DBB137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E1486-B5F1-696E-A4FF-DC97E575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CC1D7-D608-D728-AC37-1E891243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E4532-141F-BE72-14C4-ADAE0AD1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35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C654-5CC5-A586-D76B-EF1E036A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408CF-41DA-FAD4-6A63-BAF979358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E0766-6593-CEB7-6FCD-237AB5B0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65102-7120-6CA7-D58A-2FF5AEBF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45BFE-0DEF-BFBF-FD94-2FA75471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45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C674C-2B24-ACB6-79A6-36A9E2794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A496C-8E76-E894-8E76-2C7961A4A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67D6B-16CE-830C-CDF8-04E9131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D1F63-B3CA-BAC8-D2F5-DEBFED74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7EC20-44DE-8332-DD58-3655D9BD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86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BC60B-74F6-FDFD-397B-C9534765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95691-B94C-F413-05FB-814DB0A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7977-CB48-39B1-D082-7F825D21A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A92D4-C865-491A-AAE5-16BE58FA102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CA10-9044-590B-2F0A-F2C7B3DAF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Rutba Office showcase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EC581-CAED-42B6-9EB3-0825BBF7F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28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ffice.rutba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F4E79"/>
            </a:gs>
            <a:gs pos="100000">
              <a:srgbClr val="C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845E-E61C-7CFA-FB9A-F540F7FE3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The Rutba Office showcase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AE743-F9AC-B077-CFA8-D99E35249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>
                <a:solidFill>
                  <a:srgbClr val="FFE699"/>
                </a:solidFill>
              </a:rPr>
              <a:t>A deck with one of everything, written by PowerPoint on 2026-09-10 01:45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6420D-1FDC-5DC4-AF8A-98B740AA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F805A-6DB8-EF15-F04D-5606AB49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175736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D852-BDFD-62C5-0EF7-693043A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Bullets at three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8F754-7753-B100-6C57-05FFCCE42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4000" cy="4351338"/>
          </a:xfrm>
        </p:spPr>
        <p:txBody>
          <a:bodyPr/>
          <a:lstStyle/>
          <a:p>
            <a:r>
              <a:rPr lang="en-GB"/>
              <a:t>First point</a:t>
            </a:r>
          </a:p>
          <a:p>
            <a:r>
              <a:rPr lang="en-GB"/>
              <a:t>Second point</a:t>
            </a:r>
          </a:p>
          <a:p>
            <a:pPr lvl="1"/>
            <a:r>
              <a:rPr lang="en-GB"/>
              <a:t>A sub-point</a:t>
            </a:r>
          </a:p>
          <a:p>
            <a:pPr lvl="2"/>
            <a:r>
              <a:rPr lang="en-GB"/>
              <a:t>A sub-sub-point</a:t>
            </a:r>
          </a:p>
          <a:p>
            <a:r>
              <a:rPr lang="en-GB" b="1">
                <a:solidFill>
                  <a:srgbClr val="C00000"/>
                </a:solidFill>
              </a:rPr>
              <a:t>Third point, in colour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FC77B-04FB-091D-DD55-33B40B6AB2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2032000"/>
            <a:ext cx="3810000" cy="254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0376-AD26-4F69-01FD-42EFE22C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37D040-4EB9-3049-7A6F-2F3A1AA5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176549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B339-DC69-1F38-FA45-020910E1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Shapes: fills, gradients, outlines, shadows, text, a group, a rotation</a:t>
            </a:r>
          </a:p>
        </p:txBody>
      </p:sp>
      <p:sp>
        <p:nvSpPr>
          <p:cNvPr id="3" name="Shape Rectangle">
            <a:extLst>
              <a:ext uri="{FF2B5EF4-FFF2-40B4-BE49-F238E27FC236}">
                <a16:creationId xmlns:a16="http://schemas.microsoft.com/office/drawing/2014/main" id="{8AE11212-50A6-DA73-1A43-33F49D0200A2}"/>
              </a:ext>
            </a:extLst>
          </p:cNvPr>
          <p:cNvSpPr/>
          <p:nvPr/>
        </p:nvSpPr>
        <p:spPr>
          <a:xfrm>
            <a:off x="381000" y="1651000"/>
            <a:ext cx="1270000" cy="1397000"/>
          </a:xfrm>
          <a:prstGeom prst="rect">
            <a:avLst/>
          </a:prstGeom>
          <a:solidFill>
            <a:srgbClr val="C0000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4" name="Shape Rounded">
            <a:extLst>
              <a:ext uri="{FF2B5EF4-FFF2-40B4-BE49-F238E27FC236}">
                <a16:creationId xmlns:a16="http://schemas.microsoft.com/office/drawing/2014/main" id="{049BEC76-0A6B-A1F8-783D-E8BAA906F5A7}"/>
              </a:ext>
            </a:extLst>
          </p:cNvPr>
          <p:cNvSpPr/>
          <p:nvPr/>
        </p:nvSpPr>
        <p:spPr>
          <a:xfrm>
            <a:off x="1841500" y="1651000"/>
            <a:ext cx="1270000" cy="1397000"/>
          </a:xfrm>
          <a:prstGeom prst="roundRect">
            <a:avLst/>
          </a:prstGeom>
          <a:gradFill flip="none" rotWithShape="1">
            <a:gsLst>
              <a:gs pos="0">
                <a:srgbClr val="ED7D31"/>
              </a:gs>
              <a:gs pos="100000">
                <a:srgbClr val="FFFFFF"/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Rounded</a:t>
            </a:r>
          </a:p>
        </p:txBody>
      </p:sp>
      <p:sp>
        <p:nvSpPr>
          <p:cNvPr id="5" name="Shape Oval">
            <a:extLst>
              <a:ext uri="{FF2B5EF4-FFF2-40B4-BE49-F238E27FC236}">
                <a16:creationId xmlns:a16="http://schemas.microsoft.com/office/drawing/2014/main" id="{2D400527-B411-FA76-3B70-235961D46C71}"/>
              </a:ext>
            </a:extLst>
          </p:cNvPr>
          <p:cNvSpPr/>
          <p:nvPr/>
        </p:nvSpPr>
        <p:spPr>
          <a:xfrm>
            <a:off x="3302000" y="1651000"/>
            <a:ext cx="1270000" cy="13970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Oval</a:t>
            </a:r>
          </a:p>
        </p:txBody>
      </p:sp>
      <p:sp>
        <p:nvSpPr>
          <p:cNvPr id="6" name="Shape Triangle">
            <a:extLst>
              <a:ext uri="{FF2B5EF4-FFF2-40B4-BE49-F238E27FC236}">
                <a16:creationId xmlns:a16="http://schemas.microsoft.com/office/drawing/2014/main" id="{04312A64-271F-34E2-EBD0-4FAA39C7272D}"/>
              </a:ext>
            </a:extLst>
          </p:cNvPr>
          <p:cNvSpPr/>
          <p:nvPr/>
        </p:nvSpPr>
        <p:spPr>
          <a:xfrm>
            <a:off x="4762500" y="1651000"/>
            <a:ext cx="1270000" cy="1397000"/>
          </a:xfrm>
          <a:prstGeom prst="triangle">
            <a:avLst/>
          </a:prstGeom>
          <a:solidFill>
            <a:srgbClr val="70AD47"/>
          </a:soli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7" name="Shape Star">
            <a:extLst>
              <a:ext uri="{FF2B5EF4-FFF2-40B4-BE49-F238E27FC236}">
                <a16:creationId xmlns:a16="http://schemas.microsoft.com/office/drawing/2014/main" id="{0E57B16D-430F-6956-3681-EC7A478C360C}"/>
              </a:ext>
            </a:extLst>
          </p:cNvPr>
          <p:cNvSpPr/>
          <p:nvPr/>
        </p:nvSpPr>
        <p:spPr>
          <a:xfrm>
            <a:off x="6223000" y="1651000"/>
            <a:ext cx="1270000" cy="1397000"/>
          </a:xfrm>
          <a:prstGeom prst="star5">
            <a:avLst/>
          </a:prstGeom>
          <a:gradFill flip="none" rotWithShape="1">
            <a:gsLst>
              <a:gs pos="0">
                <a:srgbClr val="4472C4">
                  <a:alpha val="60000"/>
                </a:srgbClr>
              </a:gs>
              <a:gs pos="100000">
                <a:srgbClr val="FFFFFF">
                  <a:alpha val="60000"/>
                </a:srgbClr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Star</a:t>
            </a:r>
          </a:p>
        </p:txBody>
      </p:sp>
      <p:sp>
        <p:nvSpPr>
          <p:cNvPr id="8" name="Shape Arrow">
            <a:extLst>
              <a:ext uri="{FF2B5EF4-FFF2-40B4-BE49-F238E27FC236}">
                <a16:creationId xmlns:a16="http://schemas.microsoft.com/office/drawing/2014/main" id="{AAC27B50-99CF-8C3B-F42D-B94B0AF98A29}"/>
              </a:ext>
            </a:extLst>
          </p:cNvPr>
          <p:cNvSpPr/>
          <p:nvPr/>
        </p:nvSpPr>
        <p:spPr>
          <a:xfrm>
            <a:off x="7683500" y="1651000"/>
            <a:ext cx="1270000" cy="1397000"/>
          </a:xfrm>
          <a:prstGeom prst="rightArrow">
            <a:avLst/>
          </a:prstGeom>
          <a:solidFill>
            <a:srgbClr val="7030A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Arrow</a:t>
            </a:r>
          </a:p>
        </p:txBody>
      </p:sp>
      <p:sp>
        <p:nvSpPr>
          <p:cNvPr id="9" name="Shape Chevron">
            <a:extLst>
              <a:ext uri="{FF2B5EF4-FFF2-40B4-BE49-F238E27FC236}">
                <a16:creationId xmlns:a16="http://schemas.microsoft.com/office/drawing/2014/main" id="{9D2CEC2E-2F90-E9EC-9AE7-89B1D4139672}"/>
              </a:ext>
            </a:extLst>
          </p:cNvPr>
          <p:cNvSpPr/>
          <p:nvPr/>
        </p:nvSpPr>
        <p:spPr>
          <a:xfrm>
            <a:off x="9144000" y="1651000"/>
            <a:ext cx="1270000" cy="1397000"/>
          </a:xfrm>
          <a:prstGeom prst="chevron">
            <a:avLst/>
          </a:prstGeom>
          <a:solidFill>
            <a:srgbClr val="00B0F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Chevron</a:t>
            </a:r>
          </a:p>
        </p:txBody>
      </p:sp>
      <p:sp>
        <p:nvSpPr>
          <p:cNvPr id="10" name="Shape Hexagon">
            <a:extLst>
              <a:ext uri="{FF2B5EF4-FFF2-40B4-BE49-F238E27FC236}">
                <a16:creationId xmlns:a16="http://schemas.microsoft.com/office/drawing/2014/main" id="{97B7E856-18A0-E4F6-A285-47A910111AD8}"/>
              </a:ext>
            </a:extLst>
          </p:cNvPr>
          <p:cNvSpPr/>
          <p:nvPr/>
        </p:nvSpPr>
        <p:spPr>
          <a:xfrm>
            <a:off x="10604500" y="1651000"/>
            <a:ext cx="1270000" cy="1397000"/>
          </a:xfrm>
          <a:prstGeom prst="hexagon">
            <a:avLst/>
          </a:prstGeom>
          <a:gradFill flip="none" rotWithShape="1">
            <a:gsLst>
              <a:gs pos="0">
                <a:srgbClr val="FF0066"/>
              </a:gs>
              <a:gs pos="100000">
                <a:srgbClr val="FFFFFF"/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Hexagon</a:t>
            </a:r>
          </a:p>
        </p:txBody>
      </p:sp>
      <p:sp>
        <p:nvSpPr>
          <p:cNvPr id="11" name="Shape Heart">
            <a:hlinkClick r:id="rId3"/>
            <a:extLst>
              <a:ext uri="{FF2B5EF4-FFF2-40B4-BE49-F238E27FC236}">
                <a16:creationId xmlns:a16="http://schemas.microsoft.com/office/drawing/2014/main" id="{595A13D6-CFAE-A9B1-5485-6BACF07994BE}"/>
              </a:ext>
            </a:extLst>
          </p:cNvPr>
          <p:cNvSpPr/>
          <p:nvPr/>
        </p:nvSpPr>
        <p:spPr>
          <a:xfrm>
            <a:off x="381000" y="3556000"/>
            <a:ext cx="1270000" cy="1397000"/>
          </a:xfrm>
          <a:prstGeom prst="heart">
            <a:avLst/>
          </a:prstGeom>
          <a:solidFill>
            <a:srgbClr val="00808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Heart</a:t>
            </a:r>
          </a:p>
        </p:txBody>
      </p:sp>
      <p:sp>
        <p:nvSpPr>
          <p:cNvPr id="12" name="Shape Smile">
            <a:extLst>
              <a:ext uri="{FF2B5EF4-FFF2-40B4-BE49-F238E27FC236}">
                <a16:creationId xmlns:a16="http://schemas.microsoft.com/office/drawing/2014/main" id="{27C90AC7-823F-9938-E388-3CD81A22BC21}"/>
              </a:ext>
            </a:extLst>
          </p:cNvPr>
          <p:cNvSpPr/>
          <p:nvPr/>
        </p:nvSpPr>
        <p:spPr>
          <a:xfrm>
            <a:off x="1841500" y="3556000"/>
            <a:ext cx="1270000" cy="1397000"/>
          </a:xfrm>
          <a:prstGeom prst="smileyFace">
            <a:avLst/>
          </a:prstGeom>
          <a:solidFill>
            <a:srgbClr val="806000">
              <a:alpha val="60000"/>
            </a:srgbClr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Smile</a:t>
            </a:r>
          </a:p>
        </p:txBody>
      </p:sp>
      <p:sp>
        <p:nvSpPr>
          <p:cNvPr id="13" name="Shape Process">
            <a:extLst>
              <a:ext uri="{FF2B5EF4-FFF2-40B4-BE49-F238E27FC236}">
                <a16:creationId xmlns:a16="http://schemas.microsoft.com/office/drawing/2014/main" id="{F92BF0B6-1862-3CCE-B425-D612EA142330}"/>
              </a:ext>
            </a:extLst>
          </p:cNvPr>
          <p:cNvSpPr/>
          <p:nvPr/>
        </p:nvSpPr>
        <p:spPr>
          <a:xfrm>
            <a:off x="3302000" y="3556000"/>
            <a:ext cx="1270000" cy="1397000"/>
          </a:xfrm>
          <a:prstGeom prst="flowChartProcess">
            <a:avLst/>
          </a:prstGeom>
          <a:gradFill flip="none" rotWithShape="1">
            <a:gsLst>
              <a:gs pos="0">
                <a:srgbClr val="5B9BD5"/>
              </a:gs>
              <a:gs pos="100000">
                <a:srgbClr val="FFFFFF"/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4" name="Shape Callout">
            <a:extLst>
              <a:ext uri="{FF2B5EF4-FFF2-40B4-BE49-F238E27FC236}">
                <a16:creationId xmlns:a16="http://schemas.microsoft.com/office/drawing/2014/main" id="{26CCB3A5-83A6-2F26-482A-E73213CC3CF3}"/>
              </a:ext>
            </a:extLst>
          </p:cNvPr>
          <p:cNvSpPr/>
          <p:nvPr/>
        </p:nvSpPr>
        <p:spPr>
          <a:xfrm>
            <a:off x="4762500" y="3556000"/>
            <a:ext cx="1270000" cy="1397000"/>
          </a:xfrm>
          <a:prstGeom prst="wedgeRectCallout">
            <a:avLst/>
          </a:prstGeom>
          <a:solidFill>
            <a:srgbClr val="A5A5A5"/>
          </a:soli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Callout</a:t>
            </a:r>
          </a:p>
        </p:txBody>
      </p:sp>
      <p:grpSp>
        <p:nvGrpSpPr>
          <p:cNvPr id="19" name="Grouped pair">
            <a:extLst>
              <a:ext uri="{FF2B5EF4-FFF2-40B4-BE49-F238E27FC236}">
                <a16:creationId xmlns:a16="http://schemas.microsoft.com/office/drawing/2014/main" id="{3C5AFC17-1074-D7F6-24ED-9A65B9829F72}"/>
              </a:ext>
            </a:extLst>
          </p:cNvPr>
          <p:cNvGrpSpPr/>
          <p:nvPr/>
        </p:nvGrpSpPr>
        <p:grpSpPr>
          <a:xfrm>
            <a:off x="6223000" y="3556000"/>
            <a:ext cx="2730500" cy="1397000"/>
            <a:chOff x="6223000" y="3556000"/>
            <a:chExt cx="2730500" cy="1397000"/>
          </a:xfrm>
        </p:grpSpPr>
        <p:sp>
          <p:nvSpPr>
            <p:cNvPr id="15" name="Shape Cloud">
              <a:extLst>
                <a:ext uri="{FF2B5EF4-FFF2-40B4-BE49-F238E27FC236}">
                  <a16:creationId xmlns:a16="http://schemas.microsoft.com/office/drawing/2014/main" id="{A16A184F-5025-041C-586F-74A8F675A9D3}"/>
                </a:ext>
              </a:extLst>
            </p:cNvPr>
            <p:cNvSpPr/>
            <p:nvPr/>
          </p:nvSpPr>
          <p:spPr>
            <a:xfrm>
              <a:off x="6223000" y="3556000"/>
              <a:ext cx="1270000" cy="1397000"/>
            </a:xfrm>
            <a:prstGeom prst="cloud">
              <a:avLst/>
            </a:prstGeom>
            <a:solidFill>
              <a:srgbClr val="FF99CC"/>
            </a:solidFill>
            <a:ln w="19050">
              <a:solidFill>
                <a:srgbClr val="1E1E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>
                  <a:solidFill>
                    <a:srgbClr val="FFFFFF"/>
                  </a:solidFill>
                </a:rPr>
                <a:t>Cloud</a:t>
              </a:r>
            </a:p>
          </p:txBody>
        </p:sp>
        <p:sp>
          <p:nvSpPr>
            <p:cNvPr id="16" name="Shape Up arrow">
              <a:extLst>
                <a:ext uri="{FF2B5EF4-FFF2-40B4-BE49-F238E27FC236}">
                  <a16:creationId xmlns:a16="http://schemas.microsoft.com/office/drawing/2014/main" id="{59FFF014-7B4C-6D5B-320E-F22F80FC1B85}"/>
                </a:ext>
              </a:extLst>
            </p:cNvPr>
            <p:cNvSpPr/>
            <p:nvPr/>
          </p:nvSpPr>
          <p:spPr>
            <a:xfrm>
              <a:off x="7683500" y="3556000"/>
              <a:ext cx="1270000" cy="1397000"/>
            </a:xfrm>
            <a:prstGeom prst="upArrow">
              <a:avLst/>
            </a:prstGeom>
            <a:gradFill flip="none" rotWithShape="1">
              <a:gsLst>
                <a:gs pos="0">
                  <a:srgbClr val="0066CC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9050">
              <a:solidFill>
                <a:srgbClr val="1E1E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>
                  <a:solidFill>
                    <a:srgbClr val="FFFFFF"/>
                  </a:solidFill>
                </a:rPr>
                <a:t>Up arrow</a:t>
              </a:r>
            </a:p>
          </p:txBody>
        </p:sp>
      </p:grpSp>
      <p:sp>
        <p:nvSpPr>
          <p:cNvPr id="17" name="Shape Diamond">
            <a:extLst>
              <a:ext uri="{FF2B5EF4-FFF2-40B4-BE49-F238E27FC236}">
                <a16:creationId xmlns:a16="http://schemas.microsoft.com/office/drawing/2014/main" id="{EF47D7CE-8882-22A1-BEB8-C3511B6D61DD}"/>
              </a:ext>
            </a:extLst>
          </p:cNvPr>
          <p:cNvSpPr/>
          <p:nvPr/>
        </p:nvSpPr>
        <p:spPr>
          <a:xfrm>
            <a:off x="9144000" y="3556000"/>
            <a:ext cx="1270000" cy="1397000"/>
          </a:xfrm>
          <a:prstGeom prst="diamond">
            <a:avLst/>
          </a:prstGeom>
          <a:solidFill>
            <a:srgbClr val="99CC00">
              <a:alpha val="60000"/>
            </a:srgbClr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18" name="Shape Parallelogram">
            <a:extLst>
              <a:ext uri="{FF2B5EF4-FFF2-40B4-BE49-F238E27FC236}">
                <a16:creationId xmlns:a16="http://schemas.microsoft.com/office/drawing/2014/main" id="{AF0B513F-1406-89CC-6EBF-E3C452A12788}"/>
              </a:ext>
            </a:extLst>
          </p:cNvPr>
          <p:cNvSpPr/>
          <p:nvPr/>
        </p:nvSpPr>
        <p:spPr>
          <a:xfrm rot="1500000">
            <a:off x="10604500" y="3556000"/>
            <a:ext cx="1270000" cy="1397000"/>
          </a:xfrm>
          <a:prstGeom prst="can">
            <a:avLst/>
          </a:prstGeom>
          <a:solidFill>
            <a:srgbClr val="CC6600"/>
          </a:soli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Parallelogram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0E6744A-8601-FCFB-0532-CB5CE6428B18}"/>
              </a:ext>
            </a:extLst>
          </p:cNvPr>
          <p:cNvCxnSpPr/>
          <p:nvPr/>
        </p:nvCxnSpPr>
        <p:spPr>
          <a:xfrm>
            <a:off x="1651000" y="2349500"/>
            <a:ext cx="19050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FA39B98-055B-32DC-FF14-4CAB6837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3</a:t>
            </a:fld>
            <a:endParaRPr lang="en-GB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1076379-6EF1-5826-1FF1-38506455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051103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33E1-FCB6-5DDF-2D25-AEC51D0E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table with a style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237B3A-E8DB-3136-8282-E3E8ABE2D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999529"/>
              </p:ext>
            </p:extLst>
          </p:nvPr>
        </p:nvGraphicFramePr>
        <p:xfrm>
          <a:off x="1016000" y="1778000"/>
          <a:ext cx="1016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6766756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64696335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5467474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64206322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30976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2,550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5471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3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2,940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241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3,610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7,590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6304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8718E-99E5-081D-8910-9CEA2FE8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40127-608F-91ED-370A-DFCA2B58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56894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2AB2-EB77-3A4E-A2B3-68279813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Charts: a column chart and a pie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C88FDA1-8653-5385-4FE1-EB6BFB63C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306470"/>
              </p:ext>
            </p:extLst>
          </p:nvPr>
        </p:nvGraphicFramePr>
        <p:xfrm>
          <a:off x="508000" y="1651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69A106B-8899-3475-B001-CA6F9E781A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6659746"/>
              </p:ext>
            </p:extLst>
          </p:nvPr>
        </p:nvGraphicFramePr>
        <p:xfrm>
          <a:off x="6350000" y="1651000"/>
          <a:ext cx="533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0C74F-42C5-FF66-B02F-8B91BC61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0BF81-981C-D811-BCF9-9D8D1E43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338834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2AB341-959E-DC85-1090-DBC7B7BE6E7E}"/>
              </a:ext>
            </a:extLst>
          </p:cNvPr>
          <p:cNvSpPr/>
          <p:nvPr/>
        </p:nvSpPr>
        <p:spPr>
          <a:xfrm>
            <a:off x="762000" y="508000"/>
            <a:ext cx="2950488" cy="1015663"/>
          </a:xfrm>
          <a:prstGeom prst="rect">
            <a:avLst/>
          </a:prstGeom>
          <a:solidFill>
            <a:srgbClr val="C00000"/>
          </a:solidFill>
          <a:ln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60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libri" panose="020F0502020204030204" pitchFamily="34" charset="0"/>
              </a:rPr>
              <a:t>WordArt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E9BC-C0A5-5C4F-0243-EC8ED24685C3}"/>
              </a:ext>
            </a:extLst>
          </p:cNvPr>
          <p:cNvSpPr txBox="1"/>
          <p:nvPr/>
        </p:nvSpPr>
        <p:spPr>
          <a:xfrm>
            <a:off x="762000" y="2286000"/>
            <a:ext cx="6604000" cy="156966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r>
              <a:rPr lang="en-GB"/>
              <a:t>A text box with formatted paragraphs.</a:t>
            </a:r>
          </a:p>
          <a:p>
            <a:r>
              <a:rPr lang="en-GB" b="1">
                <a:solidFill>
                  <a:srgbClr val="0070C0"/>
                </a:solidFill>
              </a:rPr>
              <a:t>This one is bold and blue.</a:t>
            </a:r>
          </a:p>
          <a:p>
            <a:pPr algn="r"/>
            <a:r>
              <a:rPr lang="en-GB" sz="2400" i="1"/>
              <a:t>This one is italic, larger, and right-aligned.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This one is bulleted.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And this one is bulleted too.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61B91B03-3DBB-9840-E97D-6BAD2A551065}"/>
              </a:ext>
            </a:extLst>
          </p:cNvPr>
          <p:cNvSpPr/>
          <p:nvPr/>
        </p:nvSpPr>
        <p:spPr>
          <a:xfrm>
            <a:off x="7874000" y="2540000"/>
            <a:ext cx="3556000" cy="1524000"/>
          </a:xfrm>
          <a:prstGeom prst="wedgeRectCallout">
            <a:avLst/>
          </a:prstGeom>
          <a:solidFill>
            <a:srgbClr val="E2EF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rgbClr val="000000"/>
                </a:solidFill>
              </a:rPr>
              <a:t>A callout pointing at the text box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EBC39-8E02-4BA0-0415-8051B6A5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3E98C-2413-BD17-3A21-1EAA1636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3193781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C1C4-F57D-B18C-3E27-CAE8A57B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Animated, and hidden from the show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D0F04-5816-6367-9C28-4BDAB59FA663}"/>
              </a:ext>
            </a:extLst>
          </p:cNvPr>
          <p:cNvSpPr/>
          <p:nvPr/>
        </p:nvSpPr>
        <p:spPr>
          <a:xfrm>
            <a:off x="1270000" y="2286000"/>
            <a:ext cx="2794000" cy="1524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Flies in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1ED9D8-D269-3AA9-8DD8-BA9A72F316B3}"/>
              </a:ext>
            </a:extLst>
          </p:cNvPr>
          <p:cNvSpPr/>
          <p:nvPr/>
        </p:nvSpPr>
        <p:spPr>
          <a:xfrm>
            <a:off x="5080000" y="2286000"/>
            <a:ext cx="2794000" cy="1524000"/>
          </a:xfrm>
          <a:prstGeom prst="ellipse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Fades in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AE887B72-B6F1-E49F-BA3E-322EA0481333}"/>
              </a:ext>
            </a:extLst>
          </p:cNvPr>
          <p:cNvSpPr/>
          <p:nvPr/>
        </p:nvSpPr>
        <p:spPr>
          <a:xfrm>
            <a:off x="8890000" y="2032000"/>
            <a:ext cx="2032000" cy="203200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Zooms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C6F7-8527-FBE7-9F00-5A2AC071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8EE0EB-F9D8-3304-C6E6-561C1B20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73694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3941-E9BB-11E2-BCAE-E15C02C1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1EB1-A21D-923F-F677-2177FC54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Eight slides, sixteen shapes, two charts, a table, a picture, WordArt, animations, notes, a hidden slide, sections, a footer and slide numbers.</a:t>
            </a:r>
          </a:p>
          <a:p>
            <a:r>
              <a:rPr lang="en-GB"/>
              <a:t>Non-Latin: </a:t>
            </a:r>
            <a:r>
              <a:rPr lang="ja-JP" altLang="en-US"/>
              <a:t>日本語 </a:t>
            </a:r>
            <a:r>
              <a:rPr lang="en-US" altLang="ja-JP"/>
              <a:t>• </a:t>
            </a:r>
            <a:r>
              <a:rPr lang="ar-SA"/>
              <a:t>العربية • </a:t>
            </a:r>
            <a:r>
              <a:rPr lang="el-GR"/>
              <a:t>Ελληνικά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71767-B8C1-C86C-6443-8AB7B8AC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0AF0-B446-785D-E66D-2D209045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387236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Custom</PresentationFormat>
  <Paragraphs>89</Paragraphs>
  <Slides>8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The Rutba Office showcase</vt:lpstr>
      <vt:lpstr>Bullets at three levels</vt:lpstr>
      <vt:lpstr>Shapes: fills, gradients, outlines, shadows, text, a group, a rotation</vt:lpstr>
      <vt:lpstr>A table with a style</vt:lpstr>
      <vt:lpstr>Charts: a column chart and a pie</vt:lpstr>
      <vt:lpstr>PowerPoint Presentation</vt:lpstr>
      <vt:lpstr>Animated, and hidden from the show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Ejaz Arain</dc:creator>
  <cp:lastModifiedBy>Ejaz Arain</cp:lastModifiedBy>
  <cp:revision>1</cp:revision>
  <dcterms:created xsi:type="dcterms:W3CDTF">2026-09-09T20:48:37Z</dcterms:created>
  <dcterms:modified xsi:type="dcterms:W3CDTF">2026-09-09T20:48:37Z</dcterms:modified>
</cp:coreProperties>
</file>